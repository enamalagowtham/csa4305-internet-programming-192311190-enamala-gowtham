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7158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0579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54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04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945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158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47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327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870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89087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29730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957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110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544330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318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19637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4373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1531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7430651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94429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3015392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01629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581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9141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086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32953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3635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991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120"/>
            </a:gs>
            <a:gs pos="100000">
              <a:srgbClr val="02040A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72865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  <a:latin typeface="Georgia"/>
              </a:defRPr>
            </a:pPr>
            <a:r>
              <a:rPr dirty="0"/>
              <a:t>Session Tracking Mechanisms in Dynamic Servlets</a:t>
            </a:r>
          </a:p>
          <a:p>
            <a:pPr>
              <a:defRPr sz="1600">
                <a:solidFill>
                  <a:srgbClr val="22D3EE"/>
                </a:solidFill>
                <a:latin typeface="Arial"/>
              </a:defRPr>
            </a:pPr>
            <a:r>
              <a:rPr dirty="0"/>
              <a:t>An architectural evaluation of state persistence, security vulnerabilities, and diagnostic use-case comparison.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926080"/>
            <a:ext cx="5943600" cy="29260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AB005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108960"/>
            <a:ext cx="5394960" cy="887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AB005"/>
                </a:solidFill>
                <a:latin typeface="Arial"/>
              </a:defRPr>
            </a:pPr>
            <a:r>
              <a:rPr dirty="0"/>
              <a:t>ACADEMIC INTEGRITY CODE OF CONDUCT</a:t>
            </a:r>
          </a:p>
          <a:p>
            <a:pPr>
              <a:spcAft>
                <a:spcPts val="1200"/>
              </a:spcAft>
              <a:defRPr sz="1100" i="1">
                <a:solidFill>
                  <a:srgbClr val="E2E8F0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 certify that this submission is my original work and that I have adhered to the guidelines specified for this assessment. I understand that any violation of academic integrity rules will result in disciplinary action."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2926080"/>
            <a:ext cx="4510735" cy="29260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2D3EE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0" y="3108960"/>
            <a:ext cx="3962095" cy="15953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AB005"/>
                </a:solidFill>
                <a:latin typeface="Arial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INFORMATION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 </a:t>
            </a:r>
            <a:r>
              <a:rPr lang="en-IN" sz="1400" dirty="0">
                <a:solidFill>
                  <a:srgbClr val="22D3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Enamala Gowtham</a:t>
            </a:r>
            <a:endParaRPr sz="1400" dirty="0">
              <a:solidFill>
                <a:srgbClr val="22D3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No:  </a:t>
            </a:r>
            <a:r>
              <a:rPr lang="en-IN" sz="1400" b="1" dirty="0">
                <a:solidFill>
                  <a:srgbClr val="22D3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192311190</a:t>
            </a:r>
          </a:p>
          <a:p>
            <a:pPr>
              <a:spcAft>
                <a:spcPts val="1200"/>
              </a:spcAft>
            </a:pPr>
            <a:br>
              <a:rPr lang="en-IN" sz="1400" b="1" dirty="0">
                <a:solidFill>
                  <a:srgbClr val="22D3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</a:t>
            </a:r>
            <a:r>
              <a:rPr lang="en-IN" sz="1400" b="1" dirty="0">
                <a:solidFill>
                  <a:srgbClr val="22D3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CSA4305</a:t>
            </a:r>
            <a:endParaRPr sz="1400" dirty="0">
              <a:solidFill>
                <a:srgbClr val="22D3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oogle Shape;161;p1">
            <a:extLst>
              <a:ext uri="{FF2B5EF4-FFF2-40B4-BE49-F238E27FC236}">
                <a16:creationId xmlns:a16="http://schemas.microsoft.com/office/drawing/2014/main" id="{2B9062E4-27AF-966A-3DF9-E9ECA3828AE4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" cy="64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62;p1">
            <a:extLst>
              <a:ext uri="{FF2B5EF4-FFF2-40B4-BE49-F238E27FC236}">
                <a16:creationId xmlns:a16="http://schemas.microsoft.com/office/drawing/2014/main" id="{D0820834-FF3F-DA47-A67F-BFDE38CB614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110452" y="0"/>
            <a:ext cx="1081547" cy="64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120"/>
            </a:gs>
            <a:gs pos="100000">
              <a:srgbClr val="02040A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Georgia"/>
              </a:defRPr>
            </a:pPr>
            <a:r>
              <a:t>The Stateless Bottleneck of HTTP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FAB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2D3EE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AB005"/>
                </a:solidFill>
                <a:latin typeface="Georgia"/>
              </a:defRPr>
            </a:pPr>
            <a:r>
              <a:rPr dirty="0"/>
              <a:t>Why HTTP is Architecturally Stateless</a:t>
            </a:r>
          </a:p>
          <a:p>
            <a:pPr>
              <a:defRPr sz="1300">
                <a:solidFill>
                  <a:srgbClr val="E2E8F0"/>
                </a:solidFill>
                <a:latin typeface="Arial"/>
              </a:defRPr>
            </a:pPr>
            <a:r>
              <a:rPr dirty="0"/>
              <a:t>• Independent Transactions: HTTP/1.1 and HTTP/2 treat every client request as an isolated event. The server retains no cognitive memory of previous connections.</a:t>
            </a:r>
            <a:br>
              <a:rPr dirty="0"/>
            </a:br>
            <a:br>
              <a:rPr dirty="0"/>
            </a:br>
            <a:r>
              <a:rPr dirty="0"/>
              <a:t>• Protocol Decoupling: This stateless nature optimizes scalability by allowing web nodes to serve requests without local session synchronization overhead.</a:t>
            </a:r>
            <a:br>
              <a:rPr dirty="0"/>
            </a:br>
            <a:br>
              <a:rPr dirty="0"/>
            </a:br>
            <a:r>
              <a:rPr dirty="0"/>
              <a:t>• The User Experience Gap: Modern workflows (e-commerce carts, login sessions, banking portals) mandate conversational state continuity. Without session tracking, users must re-authenticate on every mouse click.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AB005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9361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2D3EE"/>
                </a:solidFill>
                <a:latin typeface="Georgia"/>
              </a:defRPr>
            </a:pPr>
            <a:r>
              <a:t>The State Resolution Cycle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FAB005"/>
                </a:solidFill>
                <a:latin typeface="Arial"/>
              </a:rPr>
              <a:t>Step 1. Anonymous Request Initiation
</a:t>
            </a:r>
            <a:r>
              <a:rPr sz="1100">
                <a:solidFill>
                  <a:srgbClr val="E2E8F0"/>
                </a:solidFill>
                <a:latin typeface="Arial"/>
              </a:rPr>
              <a:t>Client transmits standard HTTP GET without identifiers. Server receives a clean, context-free thread.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FAB005"/>
                </a:solidFill>
                <a:latin typeface="Arial"/>
              </a:rPr>
              <a:t>Step 2. Token Issuance &amp; Header Injection
</a:t>
            </a:r>
            <a:r>
              <a:rPr sz="1100">
                <a:solidFill>
                  <a:srgbClr val="E2E8F0"/>
                </a:solidFill>
                <a:latin typeface="Arial"/>
              </a:rPr>
              <a:t>Servlet container executes `getSession()`, creates a memory record, and returns a unique cryptographically safe identifier (`JSESSIONID`) via response headers.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FAB005"/>
                </a:solidFill>
                <a:latin typeface="Arial"/>
              </a:rPr>
              <a:t>Step 3. State-bound Handshake Loop
</a:t>
            </a:r>
            <a:r>
              <a:rPr sz="1100">
                <a:solidFill>
                  <a:srgbClr val="E2E8F0"/>
                </a:solidFill>
                <a:latin typeface="Arial"/>
              </a:rPr>
              <a:t>All subsequent client requests automatically bundle the received token. The Web Container intercepts, matches the ID, and binds state context.</a:t>
            </a:r>
          </a:p>
        </p:txBody>
      </p:sp>
      <p:pic>
        <p:nvPicPr>
          <p:cNvPr id="11" name="Google Shape;161;p1">
            <a:extLst>
              <a:ext uri="{FF2B5EF4-FFF2-40B4-BE49-F238E27FC236}">
                <a16:creationId xmlns:a16="http://schemas.microsoft.com/office/drawing/2014/main" id="{C2D8063B-5EE6-9985-8A5C-DFCB3C34F9A9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" cy="64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62;p1">
            <a:extLst>
              <a:ext uri="{FF2B5EF4-FFF2-40B4-BE49-F238E27FC236}">
                <a16:creationId xmlns:a16="http://schemas.microsoft.com/office/drawing/2014/main" id="{1B58B888-83B2-0E00-616F-BF13576AB8D7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110452" y="0"/>
            <a:ext cx="1081547" cy="64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120"/>
            </a:gs>
            <a:gs pos="100000">
              <a:srgbClr val="02040A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Georgia"/>
              </a:defRPr>
            </a:pPr>
            <a:r>
              <a:t>Server-Side Persistence: Deep Dive on HttpSession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FAB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2D3EE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2D3EE"/>
                </a:solidFill>
                <a:latin typeface="Georgia"/>
              </a:defRPr>
            </a:pPr>
            <a:r>
              <a:t>HttpSession Architecture</a:t>
            </a:r>
          </a:p>
          <a:p>
            <a:pPr>
              <a:defRPr sz="1250">
                <a:solidFill>
                  <a:srgbClr val="E2E8F0"/>
                </a:solidFill>
                <a:latin typeface="Arial"/>
              </a:defRPr>
            </a:pPr>
            <a:r>
              <a:t>• Memory Footprint: Allocation resides entirely within the Servlet Container's active JVM Heap memory. Highly secure as raw business data never touches the wire.</a:t>
            </a:r>
            <a:br/>
            <a:br/>
            <a:r>
              <a:t>• Standard API Lifecycles:</a:t>
            </a:r>
            <a:br/>
            <a:r>
              <a:t>  - Initialization: Activated seamlessly using `HttpServletRequest.getSession()`.</a:t>
            </a:r>
            <a:br/>
            <a:r>
              <a:t>  - Invalidation: Programmatic destruction via `session.invalidate()` or automatic container timeout configuration in `web.xml` (`&lt;session-timeout&gt;`).</a:t>
            </a:r>
            <a:br/>
            <a:r>
              <a:t>  - Storage Interface: Stores arbitrary Java objects securely via a simple key-value abstraction (`setAttribute()`, `getAttribute()`).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AB005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9361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AB005"/>
                </a:solidFill>
                <a:latin typeface="Georgia"/>
              </a:defRPr>
            </a:pPr>
            <a:r>
              <a:t>Technical Evaluation &amp; API Sample</a:t>
            </a:r>
          </a:p>
          <a:p>
            <a:pPr>
              <a:spcBef>
                <a:spcPts val="12000"/>
              </a:spcBef>
            </a:pPr>
            <a:endParaRPr/>
          </a:p>
          <a:p>
            <a:pPr>
              <a:defRPr sz="1200">
                <a:solidFill>
                  <a:srgbClr val="E2E8F0"/>
                </a:solidFill>
                <a:latin typeface="Arial"/>
              </a:defRPr>
            </a:pPr>
            <a:r>
              <a:t>• Core Advantages: Zero client-side configuration, native support for complex multi-tier Java objects, high-security threshold.</a:t>
            </a:r>
            <a:br/>
            <a:br/>
            <a:r>
              <a:t>• Primary Architectural Bottleneck: Severe horizontal scaling constraint. Requires complex distributed clustering (such as Redis session store) or strict sticky-session routing at load balancer layers.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94560"/>
            <a:ext cx="4693615" cy="1554480"/>
          </a:xfrm>
          <a:prstGeom prst="rect">
            <a:avLst/>
          </a:prstGeom>
          <a:solidFill>
            <a:srgbClr val="0A0F1E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EA5E9"/>
                </a:solidFill>
                <a:latin typeface="Consolas"/>
              </a:defRPr>
            </a:pPr>
            <a:r>
              <a:t>// Access or create session securely</a:t>
            </a:r>
            <a:br/>
            <a:r>
              <a:t>HttpSession session = request.getSession(true);</a:t>
            </a:r>
            <a:br/>
            <a:r>
              <a:t>session.setAttribute("userCart", cartObject);</a:t>
            </a:r>
            <a:br/>
            <a:br/>
            <a:r>
              <a:t>// Programmatic logout lifecycle hook</a:t>
            </a:r>
            <a:br/>
            <a:r>
              <a:t>session.invalidate();</a:t>
            </a:r>
          </a:p>
        </p:txBody>
      </p:sp>
      <p:pic>
        <p:nvPicPr>
          <p:cNvPr id="10" name="Google Shape;161;p1">
            <a:extLst>
              <a:ext uri="{FF2B5EF4-FFF2-40B4-BE49-F238E27FC236}">
                <a16:creationId xmlns:a16="http://schemas.microsoft.com/office/drawing/2014/main" id="{992330DA-3034-4DB0-A4DF-AF7CFFDA508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" cy="64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62;p1">
            <a:extLst>
              <a:ext uri="{FF2B5EF4-FFF2-40B4-BE49-F238E27FC236}">
                <a16:creationId xmlns:a16="http://schemas.microsoft.com/office/drawing/2014/main" id="{BAB4C661-9BAC-35EE-9D6F-495742747E0C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110452" y="0"/>
            <a:ext cx="1081547" cy="64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120"/>
            </a:gs>
            <a:gs pos="100000">
              <a:srgbClr val="02040A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Georgia"/>
              </a:defRPr>
            </a:pPr>
            <a:r>
              <a:t>Client-Side Session Boundaries: Cookies &amp; URL Rewriting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FAB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2D3EE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AB005"/>
                </a:solidFill>
                <a:latin typeface="Georgia"/>
              </a:defRPr>
            </a:pPr>
            <a:r>
              <a:t>HTTP Cookie Architecture</a:t>
            </a:r>
          </a:p>
          <a:p>
            <a:pPr>
              <a:defRPr sz="1300">
                <a:solidFill>
                  <a:srgbClr val="E2E8F0"/>
                </a:solidFill>
                <a:latin typeface="Arial"/>
              </a:defRPr>
            </a:pPr>
            <a:r>
              <a:t>• Protocol Placement: Transmitted inside the `Set-Cookie` response header and echoed back by the client in the `Cookie` request header on subsequent interactions.</a:t>
            </a:r>
            <a:br/>
            <a:br/>
            <a:r>
              <a:t>• Expiry Mechanisms: Persistent cookies utilize `setMaxAge()` (written to physical disk), while temporary session cookies expire instantly when browser processes terminate.</a:t>
            </a:r>
            <a:br/>
            <a:br/>
            <a:r>
              <a:t>• Physical Constraints: Constrained strictly to 4KB of raw text storage per domain, limiting capabilities to primary identifiers.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AB005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9361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2D3EE"/>
                </a:solidFill>
                <a:latin typeface="Georgia"/>
              </a:defRPr>
            </a:pPr>
            <a:r>
              <a:t>URL Rewriting (Fallback)</a:t>
            </a:r>
          </a:p>
          <a:p>
            <a:pPr>
              <a:defRPr sz="1300">
                <a:solidFill>
                  <a:srgbClr val="E2E8F0"/>
                </a:solidFill>
                <a:latin typeface="Arial"/>
              </a:defRPr>
            </a:pPr>
            <a:r>
              <a:t>• Implementation Strategy: Appends the session identifier directly to every URL link within the application dynamically:</a:t>
            </a:r>
            <a:br/>
            <a:r>
              <a:t>  `href="shop.jsp;jsessionid=A39B120FD72E"`</a:t>
            </a:r>
            <a:br/>
            <a:br/>
            <a:r>
              <a:t>• Zero Browser Dependency: Excellent fallback mechanism when users disable cookie permissions entirely in browser security settings.</a:t>
            </a:r>
            <a:br/>
            <a:br/>
            <a:r>
              <a:t>• Heavy Security Flaws: Highly exposed. Tokens are fully leaked in web server access logs, browser bookmarks, search history, and downstream HTTP Referer headers.</a:t>
            </a:r>
          </a:p>
        </p:txBody>
      </p:sp>
      <p:pic>
        <p:nvPicPr>
          <p:cNvPr id="9" name="Google Shape;161;p1">
            <a:extLst>
              <a:ext uri="{FF2B5EF4-FFF2-40B4-BE49-F238E27FC236}">
                <a16:creationId xmlns:a16="http://schemas.microsoft.com/office/drawing/2014/main" id="{9069A114-98B2-F224-5FF2-EA6FADA8A3D1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" cy="64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62;p1">
            <a:extLst>
              <a:ext uri="{FF2B5EF4-FFF2-40B4-BE49-F238E27FC236}">
                <a16:creationId xmlns:a16="http://schemas.microsoft.com/office/drawing/2014/main" id="{F3E99B79-3E20-4DD1-B2A4-B75CA30C743E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110452" y="0"/>
            <a:ext cx="1081547" cy="64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120"/>
            </a:gs>
            <a:gs pos="100000">
              <a:srgbClr val="02040A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Georgia"/>
              </a:defRPr>
            </a:pPr>
            <a:r>
              <a:t>Diagnostic Matrix: Session Tracking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FAB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2D3EE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28800"/>
          <a:ext cx="1036289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6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B005"/>
                          </a:solidFill>
                          <a:latin typeface="Arial"/>
                        </a:rPr>
                        <a:t>EVALUATION METRIC</a:t>
                      </a:r>
                    </a:p>
                  </a:txBody>
                  <a:tcPr marL="109728" marR="109728" marT="73152" marB="73152" anchor="ctr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AB005"/>
                          </a:solidFill>
                          <a:latin typeface="Arial"/>
                        </a:rPr>
                        <a:t>HTTPSESSION (JVM)</a:t>
                      </a:r>
                    </a:p>
                  </a:txBody>
                  <a:tcPr marL="109728" marR="109728" marT="73152" marB="73152" anchor="ctr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AB005"/>
                          </a:solidFill>
                          <a:latin typeface="Arial"/>
                        </a:rPr>
                        <a:t>HTTP COOKIES</a:t>
                      </a:r>
                    </a:p>
                  </a:txBody>
                  <a:tcPr marL="109728" marR="109728" marT="73152" marB="73152" anchor="ctr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AB005"/>
                          </a:solidFill>
                          <a:latin typeface="Arial"/>
                        </a:rPr>
                        <a:t>URL REWRITING</a:t>
                      </a:r>
                    </a:p>
                  </a:txBody>
                  <a:tcPr marL="109728" marR="109728" marT="73152" marB="73152" anchor="ctr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AB005"/>
                          </a:solidFill>
                          <a:latin typeface="Arial"/>
                        </a:rPr>
                        <a:t>PRODUCTION SCENARIO</a:t>
                      </a:r>
                    </a:p>
                  </a:txBody>
                  <a:tcPr marL="109728" marR="109728" marT="73152" marB="73152" anchor="ctr">
                    <a:solidFill>
                      <a:srgbClr val="0A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Arial"/>
                        </a:rPr>
                        <a:t>Storage Boundary</a:t>
                      </a:r>
                    </a:p>
                  </a:txBody>
                  <a:tcPr marL="109728" marR="109728" marT="73152" marB="73152" anchor="ctr">
                    <a:solidFill>
                      <a:srgbClr val="0F14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  <a:latin typeface="Arial"/>
                        </a:rPr>
                        <a:t>Server JVM Heap memory. High security threshold.</a:t>
                      </a:r>
                    </a:p>
                  </a:txBody>
                  <a:tcPr marL="109728" marR="109728" marT="73152" marB="73152" anchor="ctr">
                    <a:solidFill>
                      <a:srgbClr val="0F14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  <a:latin typeface="Arial"/>
                        </a:rPr>
                        <a:t>Browser storage disk/RAM. Exposed.</a:t>
                      </a:r>
                    </a:p>
                  </a:txBody>
                  <a:tcPr marL="109728" marR="109728" marT="73152" marB="73152" anchor="ctr">
                    <a:solidFill>
                      <a:srgbClr val="0F14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  <a:latin typeface="Arial"/>
                        </a:rPr>
                        <a:t>Client URL path string. Unencrypted.</a:t>
                      </a:r>
                    </a:p>
                  </a:txBody>
                  <a:tcPr marL="109728" marR="109728" marT="73152" marB="73152" anchor="ctr">
                    <a:solidFill>
                      <a:srgbClr val="0F14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  <a:latin typeface="Arial"/>
                        </a:rPr>
                        <a:t>JVM Heap allows object mapping; other tools limited to string IDs.</a:t>
                      </a:r>
                    </a:p>
                  </a:txBody>
                  <a:tcPr marL="109728" marR="109728" marT="73152" marB="73152" anchor="ctr">
                    <a:solidFill>
                      <a:srgbClr val="0F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Arial"/>
                        </a:rPr>
                        <a:t>Cookie Dependency</a:t>
                      </a:r>
                    </a:p>
                  </a:txBody>
                  <a:tcPr marL="109728" marR="109728" marT="73152" marB="73152" anchor="ctr">
                    <a:solidFill>
                      <a:srgbClr val="1921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  <a:latin typeface="Arial"/>
                        </a:rPr>
                        <a:t>Standard default (uses JSESSIONID cookie).</a:t>
                      </a:r>
                    </a:p>
                  </a:txBody>
                  <a:tcPr marL="109728" marR="109728" marT="73152" marB="73152" anchor="ctr">
                    <a:solidFill>
                      <a:srgbClr val="1921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  <a:latin typeface="Arial"/>
                        </a:rPr>
                        <a:t>Absolute. Fails instantly if blocked.</a:t>
                      </a:r>
                    </a:p>
                  </a:txBody>
                  <a:tcPr marL="109728" marR="109728" marT="73152" marB="73152" anchor="ctr">
                    <a:solidFill>
                      <a:srgbClr val="1921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  <a:latin typeface="Arial"/>
                        </a:rPr>
                        <a:t>Completely independent. Robust fallback.</a:t>
                      </a:r>
                    </a:p>
                  </a:txBody>
                  <a:tcPr marL="109728" marR="109728" marT="73152" marB="73152" anchor="ctr">
                    <a:solidFill>
                      <a:srgbClr val="1921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  <a:latin typeface="Arial"/>
                        </a:rPr>
                        <a:t>Use URL rewriting solely as emergency fallback for cookie-blocked clients.</a:t>
                      </a:r>
                    </a:p>
                  </a:txBody>
                  <a:tcPr marL="109728" marR="109728" marT="73152" marB="73152" anchor="ctr">
                    <a:solidFill>
                      <a:srgbClr val="1921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Arial"/>
                        </a:rPr>
                        <a:t>Security Vulnerability</a:t>
                      </a:r>
                    </a:p>
                  </a:txBody>
                  <a:tcPr marL="109728" marR="109728" marT="73152" marB="73152" anchor="ctr">
                    <a:solidFill>
                      <a:srgbClr val="0F14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  <a:latin typeface="Arial"/>
                        </a:rPr>
                        <a:t>Low. High server shielding. Susceptible to token theft.</a:t>
                      </a:r>
                    </a:p>
                  </a:txBody>
                  <a:tcPr marL="109728" marR="109728" marT="73152" marB="73152" anchor="ctr">
                    <a:solidFill>
                      <a:srgbClr val="0F14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  <a:latin typeface="Arial"/>
                        </a:rPr>
                        <a:t>Medium to High. Prone to XSS sniffing and CSRF.</a:t>
                      </a:r>
                    </a:p>
                  </a:txBody>
                  <a:tcPr marL="109728" marR="109728" marT="73152" marB="73152" anchor="ctr">
                    <a:solidFill>
                      <a:srgbClr val="0F14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  <a:latin typeface="Arial"/>
                        </a:rPr>
                        <a:t>Very High. Exposed in history, referrer links, proxy logs.</a:t>
                      </a:r>
                    </a:p>
                  </a:txBody>
                  <a:tcPr marL="109728" marR="109728" marT="73152" marB="73152" anchor="ctr">
                    <a:solidFill>
                      <a:srgbClr val="0F14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  <a:latin typeface="Arial"/>
                        </a:rPr>
                        <a:t>HttpSession is mandatory for financial, administrative, and authenticated sectors.</a:t>
                      </a:r>
                    </a:p>
                  </a:txBody>
                  <a:tcPr marL="109728" marR="109728" marT="73152" marB="73152" anchor="ctr">
                    <a:solidFill>
                      <a:srgbClr val="0F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Google Shape;161;p1">
            <a:extLst>
              <a:ext uri="{FF2B5EF4-FFF2-40B4-BE49-F238E27FC236}">
                <a16:creationId xmlns:a16="http://schemas.microsoft.com/office/drawing/2014/main" id="{44616160-2556-DBBE-0008-B1BE9AEF8DC5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" cy="64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62;p1">
            <a:extLst>
              <a:ext uri="{FF2B5EF4-FFF2-40B4-BE49-F238E27FC236}">
                <a16:creationId xmlns:a16="http://schemas.microsoft.com/office/drawing/2014/main" id="{A805226C-1C0C-F302-4D92-634E1A3333DA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110452" y="0"/>
            <a:ext cx="1081547" cy="64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120"/>
            </a:gs>
            <a:gs pos="100000">
              <a:srgbClr val="02040A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Georgia"/>
              </a:defRPr>
            </a:pPr>
            <a:r>
              <a:t>Threat Modeling &amp; Architectural Hardening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FAB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2D3EE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AB005"/>
                </a:solidFill>
                <a:latin typeface="Georgia"/>
              </a:defRPr>
            </a:pPr>
            <a:r>
              <a:t>Session Vulnerability Vector</a:t>
            </a:r>
          </a:p>
          <a:p>
            <a:pPr>
              <a:defRPr sz="1300">
                <a:solidFill>
                  <a:srgbClr val="E2E8F0"/>
                </a:solidFill>
                <a:latin typeface="Arial"/>
              </a:defRPr>
            </a:pPr>
            <a:r>
              <a:t>• Session Hijacking: Attackers intercept active `JSESSIONID` tokens via insecure Wi-Fi routers, proxies, or packet sniffer attacks to masquerade as the client.</a:t>
            </a:r>
            <a:br/>
            <a:br/>
            <a:r>
              <a:t>• Cross-Site Scripting (XSS): Prone javascript code injection parses the client document-cookie index directly, dumping keys to remote external listener endpoints.</a:t>
            </a:r>
            <a:br/>
            <a:br/>
            <a:r>
              <a:t>• Session Fixation: Forcing a victim browser to adopt an attacker's known token value. Once the target authenticates, the hacker gains complete instant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868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AB005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936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Arial"/>
              </a:rPr>
              <a:t>HttpOnly Flag  -  </a:t>
            </a:r>
            <a:r>
              <a:rPr sz="1050">
                <a:solidFill>
                  <a:srgbClr val="E2E8F0"/>
                </a:solidFill>
                <a:latin typeface="Arial"/>
              </a:rPr>
              <a:t>Instructs client browsers to block JavaScript access to cookies, fully eliminating standard XSS cookie extraction scripts.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51760"/>
            <a:ext cx="5242255" cy="868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AB005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6936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Arial"/>
              </a:rPr>
              <a:t>Secure Attribute  -  </a:t>
            </a:r>
            <a:r>
              <a:rPr sz="1050">
                <a:solidFill>
                  <a:srgbClr val="E2E8F0"/>
                </a:solidFill>
                <a:latin typeface="Arial"/>
              </a:rPr>
              <a:t>Forces the client browser to transmit the cookie strictly via encrypted HTTPS channels. Prevents MITM packet sniffing.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57600"/>
            <a:ext cx="5242255" cy="868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AB005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749039"/>
            <a:ext cx="46936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Arial"/>
              </a:rPr>
              <a:t>SameSite Controls  -  </a:t>
            </a:r>
            <a:r>
              <a:rPr sz="1050">
                <a:solidFill>
                  <a:srgbClr val="E2E8F0"/>
                </a:solidFill>
                <a:latin typeface="Arial"/>
              </a:rPr>
              <a:t>Configure `SameSite=Strict` or `Lax` to mandate that session tokens are not bundled with cross-site CSRF request 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663440"/>
            <a:ext cx="5242255" cy="868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AB005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4754879"/>
            <a:ext cx="46936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Arial"/>
              </a:rPr>
              <a:t>Session Renewal  -  </a:t>
            </a:r>
            <a:r>
              <a:rPr sz="1050">
                <a:solidFill>
                  <a:srgbClr val="E2E8F0"/>
                </a:solidFill>
                <a:latin typeface="Arial"/>
              </a:rPr>
              <a:t>Enforce container-level session identifier regeneration instantly upon login, rendering pre-auth fixation IDs useless.</a:t>
            </a:r>
          </a:p>
        </p:txBody>
      </p:sp>
      <p:pic>
        <p:nvPicPr>
          <p:cNvPr id="15" name="Google Shape;161;p1">
            <a:extLst>
              <a:ext uri="{FF2B5EF4-FFF2-40B4-BE49-F238E27FC236}">
                <a16:creationId xmlns:a16="http://schemas.microsoft.com/office/drawing/2014/main" id="{F76D694F-4FDC-8CFB-B957-6DAF0F8F70FA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" cy="64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62;p1">
            <a:extLst>
              <a:ext uri="{FF2B5EF4-FFF2-40B4-BE49-F238E27FC236}">
                <a16:creationId xmlns:a16="http://schemas.microsoft.com/office/drawing/2014/main" id="{5C714496-72C8-9D4A-4461-DD9BAE4BEDD7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110452" y="0"/>
            <a:ext cx="1081547" cy="64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120"/>
            </a:gs>
            <a:gs pos="100000">
              <a:srgbClr val="02040A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Georgia"/>
              </a:defRPr>
            </a:pPr>
            <a:r>
              <a:t>Critical Comparison: Cookies vs. Sessions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FAB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2D3EE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AB005"/>
                </a:solidFill>
                <a:latin typeface="Georgia"/>
              </a:defRPr>
            </a:pPr>
            <a:r>
              <a:t>HTTP Cookies (Client Boundary)</a:t>
            </a:r>
          </a:p>
          <a:p>
            <a:pPr>
              <a:defRPr sz="1250">
                <a:solidFill>
                  <a:srgbClr val="E2E8F0"/>
                </a:solidFill>
                <a:latin typeface="Arial"/>
              </a:defRPr>
            </a:pPr>
            <a:r>
              <a:t>• Storage Location: Client-side local sandbox. Under direct user and browser security boundaries.</a:t>
            </a:r>
            <a:br/>
            <a:br/>
            <a:r>
              <a:t>• Risk Vector: Exposed to direct local tampering, offline browser analysis, and cross-site sniffing vectors.</a:t>
            </a:r>
            <a:br/>
            <a:br/>
            <a:r>
              <a:t>• Performance Overhead: Appends network payloads. Since the client sends all matching cookies on every API/web asset call, heavy cookie size reduces speed.</a:t>
            </a:r>
            <a:br/>
            <a:br/>
            <a:r>
              <a:t>• Ideal Production Use Cases: Long-term client preferences, marketing analytics fingerprinting, dark-mode toggles, non-authenticated tracking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2D3EE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2D3EE"/>
                </a:solidFill>
                <a:latin typeface="Georgia"/>
              </a:defRPr>
            </a:pPr>
            <a:r>
              <a:t>HttpSession (Server Boundary)</a:t>
            </a:r>
          </a:p>
          <a:p>
            <a:pPr>
              <a:defRPr sz="1250">
                <a:solidFill>
                  <a:srgbClr val="E2E8F0"/>
                </a:solidFill>
                <a:latin typeface="Arial"/>
              </a:defRPr>
            </a:pPr>
            <a:r>
              <a:t>• Storage Location: Server-side private memory partition. Managed entirely by the servlet runtime container JVM.</a:t>
            </a:r>
            <a:br/>
            <a:br/>
            <a:r>
              <a:t>• Risk Vector: Extremely secure from inspection. Threat is limited to remote session-id sniffing or fixation attacks.</a:t>
            </a:r>
            <a:br/>
            <a:br/>
            <a:r>
              <a:t>• Performance Overhead: Highly intensive on server RAM. Inactive user sessions remain in memory until a timeout, reducing physical concurrent handling caps.</a:t>
            </a:r>
            <a:br/>
            <a:br/>
            <a:r>
              <a:t>• Ideal Production Use Cases: Authenticated user portals, secure shopping cart state, payment checkout pipelines, enterprise user roles.</a:t>
            </a:r>
          </a:p>
        </p:txBody>
      </p:sp>
      <p:sp>
        <p:nvSpPr>
          <p:cNvPr id="9" name="Oval 8"/>
          <p:cNvSpPr/>
          <p:nvPr/>
        </p:nvSpPr>
        <p:spPr>
          <a:xfrm>
            <a:off x="5638190" y="3291840"/>
            <a:ext cx="914400" cy="914400"/>
          </a:xfrm>
          <a:prstGeom prst="ellipse">
            <a:avLst/>
          </a:prstGeom>
          <a:solidFill>
            <a:srgbClr val="0A0F1E"/>
          </a:solidFill>
          <a:ln w="25400">
            <a:solidFill>
              <a:srgbClr val="FAB0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2D3EE"/>
                </a:solidFill>
                <a:latin typeface="Arial"/>
              </a:defRPr>
            </a:pPr>
            <a:r>
              <a:t>VS</a:t>
            </a:r>
          </a:p>
        </p:txBody>
      </p:sp>
      <p:pic>
        <p:nvPicPr>
          <p:cNvPr id="10" name="Google Shape;161;p1">
            <a:extLst>
              <a:ext uri="{FF2B5EF4-FFF2-40B4-BE49-F238E27FC236}">
                <a16:creationId xmlns:a16="http://schemas.microsoft.com/office/drawing/2014/main" id="{A14E7890-462C-4034-04BA-7B39893F99A5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" cy="64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62;p1">
            <a:extLst>
              <a:ext uri="{FF2B5EF4-FFF2-40B4-BE49-F238E27FC236}">
                <a16:creationId xmlns:a16="http://schemas.microsoft.com/office/drawing/2014/main" id="{2C0844FF-298C-DCD2-6C83-E379DBB07686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110452" y="0"/>
            <a:ext cx="1081547" cy="64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120"/>
            </a:gs>
            <a:gs pos="100000">
              <a:srgbClr val="02040A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Georgia"/>
              </a:defRPr>
            </a:pPr>
            <a:r>
              <a:t>Architectural Guidelines for Dynamic Web Apps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FAB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2D3EE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800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2D3EE"/>
                </a:solidFill>
                <a:latin typeface="Georgia"/>
              </a:rPr>
              <a:t>Phase 1: Zero-Trust Transport &amp; Cookie Shielding
</a:t>
            </a:r>
            <a:r>
              <a:rPr sz="1150">
                <a:solidFill>
                  <a:srgbClr val="E2E8F0"/>
                </a:solidFill>
                <a:latin typeface="Arial"/>
              </a:rPr>
              <a:t>Mandate site-wide HTTP Strict Transport Security (HSTS) with TLS/SSL. Always configure native JVM cookies with strict `HttpOnly`, `Secure`, and `SameSite=Lax` properties to neutralize MITM hijacking and XSS leaks.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728655" cy="12801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2D3EE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101800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2D3EE"/>
                </a:solidFill>
                <a:latin typeface="Georgia"/>
              </a:rPr>
              <a:t>Phase 2: Decoupled Scaling &amp; Shared Session Cache
</a:t>
            </a:r>
            <a:r>
              <a:rPr sz="1150">
                <a:solidFill>
                  <a:srgbClr val="E2E8F0"/>
                </a:solidFill>
                <a:latin typeface="Arial"/>
              </a:rPr>
              <a:t>For horizontal cloud scaling, eliminate server-bound local JVM stickiness. Deploy an out-of-process distributed cache store (such as active Redis or Memcached clusters) to manage stateless request replication safely.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728655" cy="12801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2D3EE"/>
            </a:solidFill>
          </a:ln>
          <a:effectLst>
            <a:outerShdw blurRad="30000" dist="15000" dir="540000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663440"/>
            <a:ext cx="101800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2D3EE"/>
                </a:solidFill>
                <a:latin typeface="Georgia"/>
              </a:rPr>
              <a:t>Phase 3: Aggressive Lifecycle Auditing &amp; Rotation
</a:t>
            </a:r>
            <a:r>
              <a:rPr sz="1150">
                <a:solidFill>
                  <a:srgbClr val="E2E8F0"/>
                </a:solidFill>
                <a:latin typeface="Arial"/>
              </a:rPr>
              <a:t>Regenerate session identifiers immediately upon authentication transitions. Implement defensive short session timeouts (e.g., 15-30 minutes maximum inactivity caps) combined with proactive thread sweeps.</a:t>
            </a:r>
          </a:p>
        </p:txBody>
      </p:sp>
      <p:pic>
        <p:nvPicPr>
          <p:cNvPr id="11" name="Google Shape;161;p1">
            <a:extLst>
              <a:ext uri="{FF2B5EF4-FFF2-40B4-BE49-F238E27FC236}">
                <a16:creationId xmlns:a16="http://schemas.microsoft.com/office/drawing/2014/main" id="{6868CBC4-1D0E-F8BD-D06C-4C8C81B2E694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" cy="64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62;p1">
            <a:extLst>
              <a:ext uri="{FF2B5EF4-FFF2-40B4-BE49-F238E27FC236}">
                <a16:creationId xmlns:a16="http://schemas.microsoft.com/office/drawing/2014/main" id="{698ACAC3-8A04-FA8B-02CD-6D8B7CF52B25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110452" y="0"/>
            <a:ext cx="1081547" cy="64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120"/>
            </a:gs>
            <a:gs pos="100000">
              <a:srgbClr val="02040A"/>
            </a:gs>
          </a:gsLst>
          <a:lin ang="135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629425-3585-29BD-5A94-2E9DDFEFF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67F5F1-8ECB-69D0-CCFC-B7701AC46C17}"/>
              </a:ext>
            </a:extLst>
          </p:cNvPr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FAB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Google Shape;162;p1">
            <a:extLst>
              <a:ext uri="{FF2B5EF4-FFF2-40B4-BE49-F238E27FC236}">
                <a16:creationId xmlns:a16="http://schemas.microsoft.com/office/drawing/2014/main" id="{3538F6CB-6C9E-C992-F029-B7095E33B03D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110452" y="0"/>
            <a:ext cx="1081547" cy="64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2892DA25-FE1C-E7B7-BC7B-21B243275B58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" cy="6477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337069-8E26-C4DC-94AC-8C036345D540}"/>
              </a:ext>
            </a:extLst>
          </p:cNvPr>
          <p:cNvSpPr txBox="1"/>
          <p:nvPr/>
        </p:nvSpPr>
        <p:spPr>
          <a:xfrm>
            <a:off x="2841523" y="2625213"/>
            <a:ext cx="53880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072390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17</TotalTime>
  <Words>1317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Georgia</vt:lpstr>
      <vt:lpstr>Neue Haas Grotesk Text Pro</vt:lpstr>
      <vt:lpstr>Times New Roman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Gowtham Enamala</dc:creator>
  <cp:keywords/>
  <dc:description>generated using python-pptx</dc:description>
  <cp:lastModifiedBy>Gowtham Enamala</cp:lastModifiedBy>
  <cp:revision>3</cp:revision>
  <dcterms:created xsi:type="dcterms:W3CDTF">2013-01-27T09:14:16Z</dcterms:created>
  <dcterms:modified xsi:type="dcterms:W3CDTF">2026-08-18T08:03:49Z</dcterms:modified>
  <cp:category/>
</cp:coreProperties>
</file>